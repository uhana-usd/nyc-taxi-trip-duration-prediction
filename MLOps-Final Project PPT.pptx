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Space Mono"/>
      <p:bold r:id="rId13"/>
      <p:boldItalic r:id="rId14"/>
    </p:embeddedFont>
    <p:embeddedFont>
      <p:font typeface="Space Grotesk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paceMono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aceGrotesk-bold.fntdata"/><Relationship Id="rId14" Type="http://schemas.openxmlformats.org/officeDocument/2006/relationships/font" Target="fonts/Space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e9209576fcc31e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e9209576fcc31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6e9209576fcc31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6e9209576fcc31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6e9209576fcc31e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6e9209576fcc31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e9209576fcc31e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6e9209576fcc31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e9209576fcc31e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e9209576fcc31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6e9209576fcc31e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6e9209576fcc31e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e9209576fcc31e6_10_0)">
  <p:cSld name="Generated (h6e9209576fcc31e6_1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Screenshot (1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87" y="147200"/>
            <a:ext cx="8620627" cy="48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5" title="Screenshot (15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 title="Screenshot (15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 title="Screenshot (15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 title="Screenshot (15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 title="Screenshot (15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381000" y="285750"/>
            <a:ext cx="4171950" cy="209550"/>
            <a:chOff x="0" y="0"/>
            <a:chExt cx="4171950" cy="209550"/>
          </a:xfrm>
        </p:grpSpPr>
        <p:sp>
          <p:nvSpPr>
            <p:cNvPr id="86" name="Google Shape;86;p20"/>
            <p:cNvSpPr/>
            <p:nvPr/>
          </p:nvSpPr>
          <p:spPr>
            <a:xfrm>
              <a:off x="0" y="0"/>
              <a:ext cx="266700" cy="190500"/>
            </a:xfrm>
            <a:prstGeom prst="rect">
              <a:avLst/>
            </a:prstGeom>
            <a:solidFill>
              <a:srgbClr val="FFC7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0"/>
            <p:cNvSpPr txBox="1"/>
            <p:nvPr/>
          </p:nvSpPr>
          <p:spPr>
            <a:xfrm>
              <a:off x="0" y="190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A1A1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07</a:t>
              </a:r>
              <a:endParaRPr b="1" sz="750">
                <a:solidFill>
                  <a:srgbClr val="1A1A1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88" name="Google Shape;88;p20"/>
            <p:cNvSpPr txBox="1"/>
            <p:nvPr/>
          </p:nvSpPr>
          <p:spPr>
            <a:xfrm>
              <a:off x="361950" y="190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1A1A1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WRAP UP · CONTACT · QUESTIONS</a:t>
              </a:r>
              <a:endParaRPr b="1" sz="750">
                <a:solidFill>
                  <a:srgbClr val="1A1A1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sp>
        <p:nvSpPr>
          <p:cNvPr id="89" name="Google Shape;89;p20"/>
          <p:cNvSpPr txBox="1"/>
          <p:nvPr/>
        </p:nvSpPr>
        <p:spPr>
          <a:xfrm>
            <a:off x="381000" y="61912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1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 — </a:t>
            </a:r>
            <a:r>
              <a:rPr b="0" i="1" lang="en" sz="231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let's build</a:t>
            </a:r>
            <a:r>
              <a:rPr b="1" lang="en" sz="231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the future of production ML together.</a:t>
            </a:r>
            <a:endParaRPr b="1" sz="2310">
              <a:solidFill>
                <a:srgbClr val="1A1A1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0" name="Google Shape;90;p20"/>
          <p:cNvGrpSpPr/>
          <p:nvPr/>
        </p:nvGrpSpPr>
        <p:grpSpPr>
          <a:xfrm>
            <a:off x="381000" y="1524000"/>
            <a:ext cx="2600400" cy="2857500"/>
            <a:chOff x="0" y="0"/>
            <a:chExt cx="2600400" cy="2857500"/>
          </a:xfrm>
        </p:grpSpPr>
        <p:sp>
          <p:nvSpPr>
            <p:cNvPr id="91" name="Google Shape;91;p20"/>
            <p:cNvSpPr/>
            <p:nvPr/>
          </p:nvSpPr>
          <p:spPr>
            <a:xfrm>
              <a:off x="0" y="0"/>
              <a:ext cx="2600400" cy="2857500"/>
            </a:xfrm>
            <a:prstGeom prst="rect">
              <a:avLst/>
            </a:prstGeom>
            <a:solidFill>
              <a:srgbClr val="E2DED4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0"/>
            <p:cNvSpPr txBox="1"/>
            <p:nvPr/>
          </p:nvSpPr>
          <p:spPr>
            <a:xfrm>
              <a:off x="190500" y="190500"/>
              <a:ext cx="2219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>
                  <a:solidFill>
                    <a:srgbClr val="66666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01 · CONTACT &amp; LINKS</a:t>
              </a:r>
              <a:endParaRPr sz="825">
                <a:solidFill>
                  <a:srgbClr val="666666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93" name="Google Shape;93;p20"/>
            <p:cNvSpPr txBox="1"/>
            <p:nvPr/>
          </p:nvSpPr>
          <p:spPr>
            <a:xfrm>
              <a:off x="190500" y="428625"/>
              <a:ext cx="221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1A1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Where to find the work.</a:t>
              </a:r>
              <a:endParaRPr b="1" sz="180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4" name="Google Shape;94;p20"/>
            <p:cNvSpPr txBox="1"/>
            <p:nvPr/>
          </p:nvSpPr>
          <p:spPr>
            <a:xfrm>
              <a:off x="190500" y="1095375"/>
              <a:ext cx="2219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GitHub</a:t>
              </a:r>
              <a:b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</a:br>
              <a:endParaRPr sz="902">
                <a:solidFill>
                  <a:srgbClr val="33333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Docs &amp; Architecture</a:t>
              </a:r>
              <a:b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</a:br>
              <a:endParaRPr sz="902">
                <a:solidFill>
                  <a:srgbClr val="33333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Email</a:t>
              </a:r>
              <a:b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</a:br>
              <a:endParaRPr sz="902">
                <a:solidFill>
                  <a:srgbClr val="33333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5" name="Google Shape;95;p20"/>
            <p:cNvSpPr/>
            <p:nvPr/>
          </p:nvSpPr>
          <p:spPr>
            <a:xfrm>
              <a:off x="142875" y="2286000"/>
              <a:ext cx="2314500" cy="428700"/>
            </a:xfrm>
            <a:prstGeom prst="rect">
              <a:avLst/>
            </a:prstGeom>
            <a:solidFill>
              <a:srgbClr val="FFC700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0"/>
            <p:cNvSpPr txBox="1"/>
            <p:nvPr/>
          </p:nvSpPr>
          <p:spPr>
            <a:xfrm>
              <a:off x="238125" y="2333625"/>
              <a:ext cx="2124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A1A1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RESOURCES ONLINE</a:t>
              </a:r>
              <a:endParaRPr b="1" sz="825">
                <a:solidFill>
                  <a:srgbClr val="1A1A1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1A1A1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Repo &amp; notebooks fully public.</a:t>
              </a:r>
              <a:endParaRPr sz="750">
                <a:solidFill>
                  <a:srgbClr val="1A1A1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97" name="Google Shape;97;p20"/>
          <p:cNvGrpSpPr/>
          <p:nvPr/>
        </p:nvGrpSpPr>
        <p:grpSpPr>
          <a:xfrm>
            <a:off x="3267075" y="1524000"/>
            <a:ext cx="2610000" cy="2857500"/>
            <a:chOff x="0" y="0"/>
            <a:chExt cx="2610000" cy="2857500"/>
          </a:xfrm>
        </p:grpSpPr>
        <p:sp>
          <p:nvSpPr>
            <p:cNvPr id="98" name="Google Shape;98;p20"/>
            <p:cNvSpPr/>
            <p:nvPr/>
          </p:nvSpPr>
          <p:spPr>
            <a:xfrm>
              <a:off x="0" y="0"/>
              <a:ext cx="2610000" cy="2857500"/>
            </a:xfrm>
            <a:prstGeom prst="rect">
              <a:avLst/>
            </a:prstGeom>
            <a:solidFill>
              <a:srgbClr val="E2DED4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0"/>
            <p:cNvSpPr txBox="1"/>
            <p:nvPr/>
          </p:nvSpPr>
          <p:spPr>
            <a:xfrm>
              <a:off x="190500" y="190500"/>
              <a:ext cx="2229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>
                  <a:solidFill>
                    <a:srgbClr val="666666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02 · KEY TAKEAWAYS</a:t>
              </a:r>
              <a:endParaRPr sz="825">
                <a:solidFill>
                  <a:srgbClr val="666666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00" name="Google Shape;100;p20"/>
            <p:cNvSpPr txBox="1"/>
            <p:nvPr/>
          </p:nvSpPr>
          <p:spPr>
            <a:xfrm>
              <a:off x="190500" y="428625"/>
              <a:ext cx="22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1A1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What we delivered.</a:t>
              </a:r>
              <a:endParaRPr b="1" sz="180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20"/>
            <p:cNvSpPr/>
            <p:nvPr/>
          </p:nvSpPr>
          <p:spPr>
            <a:xfrm>
              <a:off x="190500" y="1047750"/>
              <a:ext cx="2229000" cy="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0"/>
            <p:cNvSpPr txBox="1"/>
            <p:nvPr/>
          </p:nvSpPr>
          <p:spPr>
            <a:xfrm>
              <a:off x="190500" y="1190625"/>
              <a:ext cx="222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CF453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!</a:t>
              </a:r>
              <a: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</a:t>
              </a:r>
              <a:r>
                <a:rPr b="1"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Memory Efficiency:</a:t>
              </a:r>
              <a: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Downcasted floats, saved 60% kernel RAM.</a:t>
              </a:r>
              <a:endParaRPr sz="902">
                <a:solidFill>
                  <a:srgbClr val="33333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CF453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!</a:t>
              </a:r>
              <a: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</a:t>
              </a:r>
              <a:r>
                <a:rPr b="1"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Automated Gates:</a:t>
              </a:r>
              <a: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CI/CD evaluates RMSLE before promotion.</a:t>
              </a:r>
              <a:endParaRPr sz="902">
                <a:solidFill>
                  <a:srgbClr val="33333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CF453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!</a:t>
              </a:r>
              <a: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</a:t>
              </a:r>
              <a:r>
                <a:rPr b="1"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Drift Guard:</a:t>
              </a:r>
              <a:r>
                <a:rPr lang="en" sz="902">
                  <a:solidFill>
                    <a:srgbClr val="33333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Live monitoring catches covariate shifts.</a:t>
              </a:r>
              <a:endParaRPr sz="902">
                <a:solidFill>
                  <a:srgbClr val="33333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3" name="Google Shape;103;p20"/>
            <p:cNvSpPr/>
            <p:nvPr/>
          </p:nvSpPr>
          <p:spPr>
            <a:xfrm>
              <a:off x="142875" y="2286000"/>
              <a:ext cx="2324100" cy="428700"/>
            </a:xfrm>
            <a:prstGeom prst="rect">
              <a:avLst/>
            </a:prstGeom>
            <a:solidFill>
              <a:srgbClr val="CF45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0"/>
            <p:cNvSpPr txBox="1"/>
            <p:nvPr/>
          </p:nvSpPr>
          <p:spPr>
            <a:xfrm>
              <a:off x="238125" y="2333625"/>
              <a:ext cx="2133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SYSTEM STATUS</a:t>
              </a:r>
              <a:endParaRPr b="1" sz="825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F4F1E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All pipelines live &amp; healthy.</a:t>
              </a:r>
              <a:endParaRPr sz="750">
                <a:solidFill>
                  <a:srgbClr val="F4F1E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grpSp>
        <p:nvGrpSpPr>
          <p:cNvPr id="105" name="Google Shape;105;p20"/>
          <p:cNvGrpSpPr/>
          <p:nvPr/>
        </p:nvGrpSpPr>
        <p:grpSpPr>
          <a:xfrm>
            <a:off x="6162675" y="1524000"/>
            <a:ext cx="2600400" cy="2857500"/>
            <a:chOff x="0" y="0"/>
            <a:chExt cx="2600400" cy="2857500"/>
          </a:xfrm>
        </p:grpSpPr>
        <p:sp>
          <p:nvSpPr>
            <p:cNvPr id="106" name="Google Shape;106;p20"/>
            <p:cNvSpPr/>
            <p:nvPr/>
          </p:nvSpPr>
          <p:spPr>
            <a:xfrm>
              <a:off x="0" y="0"/>
              <a:ext cx="2600400" cy="2857500"/>
            </a:xfrm>
            <a:prstGeom prst="rect">
              <a:avLst/>
            </a:prstGeom>
            <a:solidFill>
              <a:srgbClr val="11141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0"/>
            <p:cNvSpPr txBox="1"/>
            <p:nvPr/>
          </p:nvSpPr>
          <p:spPr>
            <a:xfrm>
              <a:off x="190500" y="190500"/>
              <a:ext cx="2219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>
                  <a:solidFill>
                    <a:srgbClr val="99999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03 · DISCUSSION</a:t>
              </a:r>
              <a:endParaRPr sz="825">
                <a:solidFill>
                  <a:srgbClr val="999999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108" name="Google Shape;108;p20"/>
            <p:cNvSpPr txBox="1"/>
            <p:nvPr/>
          </p:nvSpPr>
          <p:spPr>
            <a:xfrm>
              <a:off x="190500" y="428625"/>
              <a:ext cx="2219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Open floor &amp; Q&amp;A.</a:t>
              </a:r>
              <a:endParaRPr b="1" sz="18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" name="Google Shape;109;p20"/>
            <p:cNvSpPr txBox="1"/>
            <p:nvPr/>
          </p:nvSpPr>
          <p:spPr>
            <a:xfrm>
              <a:off x="190500" y="1095375"/>
              <a:ext cx="2219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2">
                  <a:solidFill>
                    <a:srgbClr val="FFC7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Q1</a:t>
              </a:r>
              <a:r>
                <a:rPr lang="en" sz="902">
                  <a:solidFill>
                    <a:srgbClr val="CCCCC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</a:t>
              </a:r>
              <a:r>
                <a:rPr b="1" lang="en" sz="902">
                  <a:solidFill>
                    <a:srgbClr val="CCCCC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Traffic Tales:</a:t>
              </a:r>
              <a:r>
                <a:rPr lang="en" sz="902">
                  <a:solidFill>
                    <a:srgbClr val="CCCCC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Edge cases in NYC trip duration predictions.</a:t>
              </a:r>
              <a:endParaRPr sz="902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" sz="902">
                  <a:solidFill>
                    <a:srgbClr val="FFC700"/>
                  </a:solidFill>
                  <a:latin typeface="Space Mono"/>
                  <a:ea typeface="Space Mono"/>
                  <a:cs typeface="Space Mono"/>
                  <a:sym typeface="Space Mono"/>
                </a:rPr>
                <a:t>Q2</a:t>
              </a:r>
              <a:r>
                <a:rPr lang="en" sz="902">
                  <a:solidFill>
                    <a:srgbClr val="CCCCC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</a:t>
              </a:r>
              <a:r>
                <a:rPr b="1" lang="en" sz="902">
                  <a:solidFill>
                    <a:srgbClr val="CCCCC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DAG Scaling:</a:t>
              </a:r>
              <a:r>
                <a:rPr lang="en" sz="902">
                  <a:solidFill>
                    <a:srgbClr val="CCCCC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 Expanding Step Functions for new feeds.</a:t>
              </a:r>
              <a:endParaRPr sz="902">
                <a:solidFill>
                  <a:srgbClr val="CCCCC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" name="Google Shape;110;p20"/>
            <p:cNvSpPr/>
            <p:nvPr/>
          </p:nvSpPr>
          <p:spPr>
            <a:xfrm>
              <a:off x="142875" y="2286000"/>
              <a:ext cx="2314500" cy="428700"/>
            </a:xfrm>
            <a:prstGeom prst="rect">
              <a:avLst/>
            </a:prstGeom>
            <a:solidFill>
              <a:srgbClr val="FFC700"/>
            </a:solidFill>
            <a:ln cap="flat" cmpd="sng" w="143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0"/>
            <p:cNvSpPr txBox="1"/>
            <p:nvPr/>
          </p:nvSpPr>
          <p:spPr>
            <a:xfrm>
              <a:off x="238125" y="2333625"/>
              <a:ext cx="2124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25">
                  <a:solidFill>
                    <a:srgbClr val="1A1A1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JOIN THE DISCUSSION</a:t>
              </a:r>
              <a:endParaRPr b="1" sz="825">
                <a:solidFill>
                  <a:srgbClr val="1A1A1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1A1A1A"/>
                  </a:solidFill>
                  <a:latin typeface="Space Mono"/>
                  <a:ea typeface="Space Mono"/>
                  <a:cs typeface="Space Mono"/>
                  <a:sym typeface="Space Mono"/>
                </a:rPr>
                <a:t>Questions &amp; feedback welcome.</a:t>
              </a:r>
              <a:endParaRPr sz="750">
                <a:solidFill>
                  <a:srgbClr val="1A1A1A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